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NPU stands for Neural Processing Unit. CPU is flexible, GPU is parallel, NPU is built for AI. Data such as images, voice, text and video goes in; an AI result comes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Modern devices run many AI tasks. CPUs are flexible, GPUs are parallel but power-hungry, NPUs are built for neural networks.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is converted to numbers, the NPU multiplies and adds them using the model's weights, and the output is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CPU, DMA, local SRAM, control unit, MAC units, then back out through the output buffer and DMA to main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DMA moves data, SRAM keeps it close, MAC units compute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processor suits different work. Results depend on the workload, so no processor is always fastest.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everyday areas where NPUs run AI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portrait-photo pipeline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view: strengths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takeaways, then close with the final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38417"/>
            <a:ext cx="10566400" cy="470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3406"/>
            <a:ext cx="10566400" cy="4431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38417"/>
            <a:ext cx="10566400" cy="470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3406"/>
            <a:ext cx="10566400" cy="4431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1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32223"/>
            <a:ext cx="10883392" cy="65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PROCESSING UNIT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1642088"/>
            <a:ext cx="10883392" cy="377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0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Processor Designed for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248153"/>
            <a:ext cx="9156700" cy="588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r>
              <a:rPr lang="en-US" sz="16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r>
              <a: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specialized processor that efficiently runs AI and machine-learning workloads, especially neural-network operations.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5975" y="3075529"/>
            <a:ext cx="3003153" cy="858874"/>
          </a:xfrm>
          <a:prstGeom prst="roundRect">
            <a:avLst>
              <a:gd name="adj" fmla="val 11460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5218" y="3254772"/>
            <a:ext cx="2724007" cy="29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5218" y="3526343"/>
            <a:ext cx="2724007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General-purpose processing</a:t>
            </a:r>
            <a:endParaRPr lang="en-US" sz="13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5503" y="3377948"/>
            <a:ext cx="355600" cy="254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87478" y="3075529"/>
            <a:ext cx="3003189" cy="858874"/>
          </a:xfrm>
          <a:prstGeom prst="roundRect">
            <a:avLst>
              <a:gd name="adj" fmla="val 11460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66721" y="3254772"/>
            <a:ext cx="2724044" cy="29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66721" y="3526343"/>
            <a:ext cx="2724044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graphics &amp; compute</a:t>
            </a:r>
            <a:endParaRPr lang="en-US" sz="13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7043" y="3377948"/>
            <a:ext cx="355600" cy="254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62193" y="3071776"/>
            <a:ext cx="3010658" cy="866378"/>
          </a:xfrm>
          <a:prstGeom prst="roundRect">
            <a:avLst>
              <a:gd name="adj" fmla="val 10994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45188" y="3254772"/>
            <a:ext cx="2724007" cy="29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545188" y="3526343"/>
            <a:ext cx="2724007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neural-network processing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15975" y="4201680"/>
            <a:ext cx="2773868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· Voice · Text · Video</a:t>
            </a:r>
            <a:endParaRPr lang="en-US" sz="14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45418" y="4351734"/>
            <a:ext cx="304800" cy="203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02618" y="4203123"/>
            <a:ext cx="940197" cy="500423"/>
          </a:xfrm>
          <a:prstGeom prst="roundRect">
            <a:avLst>
              <a:gd name="adj" fmla="val 20303"/>
            </a:avLst>
          </a:prstGeom>
          <a:solidFill>
            <a:srgbClr val="0B5FA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14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95215" y="4351734"/>
            <a:ext cx="304800" cy="203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55590" y="4201680"/>
            <a:ext cx="1086788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1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Result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MOTIVATION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NPU?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5975" y="1514980"/>
            <a:ext cx="1578769" cy="434903"/>
          </a:xfrm>
          <a:prstGeom prst="roundRect">
            <a:avLst>
              <a:gd name="adj" fmla="val 2263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02694" y="1514980"/>
            <a:ext cx="1879095" cy="434903"/>
          </a:xfrm>
          <a:prstGeom prst="roundRect">
            <a:avLst>
              <a:gd name="adj" fmla="val 2263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enhancement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9739" y="1514980"/>
            <a:ext cx="1627945" cy="434903"/>
          </a:xfrm>
          <a:prstGeom prst="roundRect">
            <a:avLst>
              <a:gd name="adj" fmla="val 2263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recognition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25634" y="1514980"/>
            <a:ext cx="1127594" cy="434903"/>
          </a:xfrm>
          <a:prstGeom prst="roundRect">
            <a:avLst>
              <a:gd name="adj" fmla="val 2263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61178" y="1514980"/>
            <a:ext cx="1327114" cy="434903"/>
          </a:xfrm>
          <a:prstGeom prst="roundRect">
            <a:avLst>
              <a:gd name="adj" fmla="val 2263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5975" y="2507673"/>
            <a:ext cx="1378239" cy="604910"/>
          </a:xfrm>
          <a:prstGeom prst="roundRect">
            <a:avLst>
              <a:gd name="adj" fmla="val 16271"/>
            </a:avLst>
          </a:prstGeom>
          <a:solidFill>
            <a:srgbClr val="14213D"/>
          </a:solidFill>
          <a:ln w="6350">
            <a:solidFill>
              <a:srgbClr val="D9E0E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Workload</a:t>
            </a:r>
            <a:endParaRPr lang="en-US" sz="14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49789" y="2714878"/>
            <a:ext cx="279400" cy="190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84764" y="2159433"/>
            <a:ext cx="2465424" cy="1301389"/>
          </a:xfrm>
          <a:prstGeom prst="roundRect">
            <a:avLst>
              <a:gd name="adj" fmla="val 7563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64007" y="2338677"/>
            <a:ext cx="2170145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64007" y="2595130"/>
            <a:ext cx="2170145" cy="71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at general tasks, not optimized for massive AI operations</a:t>
            </a:r>
            <a:endParaRPr lang="en-US" sz="13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05762" y="2714878"/>
            <a:ext cx="279400" cy="190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840737" y="2159433"/>
            <a:ext cx="2465460" cy="1301389"/>
          </a:xfrm>
          <a:prstGeom prst="roundRect">
            <a:avLst>
              <a:gd name="adj" fmla="val 7563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19981" y="2338677"/>
            <a:ext cx="2170183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019981" y="2595130"/>
            <a:ext cx="2170183" cy="71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 parallel processing, but can consume more power</a:t>
            </a:r>
            <a:endParaRPr lang="en-US" sz="13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61772" y="2714878"/>
            <a:ext cx="279400" cy="1905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899922" y="2270089"/>
            <a:ext cx="2472928" cy="1080077"/>
          </a:xfrm>
          <a:prstGeom prst="roundRect">
            <a:avLst>
              <a:gd name="adj" fmla="val 8819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082918" y="2453084"/>
            <a:ext cx="2170145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9082918" y="2709538"/>
            <a:ext cx="2170145" cy="48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specifically for neural-network workloads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12800" y="3667197"/>
            <a:ext cx="10566400" cy="543394"/>
          </a:xfrm>
          <a:prstGeom prst="roundRect">
            <a:avLst>
              <a:gd name="adj" fmla="val 9349"/>
            </a:avLst>
          </a:prstGeom>
          <a:solidFill>
            <a:srgbClr val="EEF5FC"/>
          </a:solidFill>
          <a:ln/>
        </p:spPr>
        <p:txBody>
          <a:bodyPr wrap="square" lIns="225267" tIns="124821" rIns="0" bIns="994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</a:t>
            </a:r>
            <a:r>
              <a:rPr lang="en-US" sz="15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AI performance with less power.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812800" y="3667197"/>
            <a:ext cx="10566400" cy="543394"/>
          </a:xfrm>
          <a:custGeom>
            <a:avLst/>
            <a:gdLst/>
            <a:ahLst/>
            <a:cxnLst/>
            <a:rect l="l" t="t" r="r" b="b"/>
            <a:pathLst>
              <a:path w="10566400" h="543394">
                <a:moveTo>
                  <a:pt x="50800" y="543394"/>
                </a:moveTo>
                <a:lnTo>
                  <a:pt x="50800" y="543394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492594"/>
                </a:lnTo>
                <a:arcTo hR="50800" wR="12700" stAng="10800000" swAng="-5400000"/>
                <a:close/>
              </a:path>
            </a:pathLst>
          </a:custGeom>
          <a:solidFill>
            <a:srgbClr val="0B5FA5"/>
          </a:solidFill>
          <a:ln/>
        </p:spPr>
      </p:sp>
      <p:sp>
        <p:nvSpPr>
          <p:cNvPr id="24" name="Text 19"/>
          <p:cNvSpPr/>
          <p:nvPr/>
        </p:nvSpPr>
        <p:spPr>
          <a:xfrm>
            <a:off x="812800" y="6291191"/>
            <a:ext cx="1058054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AN NPU WORK?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5975" y="1514980"/>
            <a:ext cx="1720850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5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892" y="2211966"/>
            <a:ext cx="1779016" cy="48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Image, audio, text, sensor data</a:t>
            </a:r>
            <a:endParaRPr lang="en-US" sz="13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1600" y="1511805"/>
            <a:ext cx="2794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25775" y="1514980"/>
            <a:ext cx="1720850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5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96692" y="2211966"/>
            <a:ext cx="1779016" cy="71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into tensors (grids of numbers)</a:t>
            </a:r>
            <a:endParaRPr lang="en-US" sz="1300" dirty="0"/>
          </a:p>
        </p:txBody>
      </p:sp>
      <p:pic>
        <p:nvPicPr>
          <p:cNvPr id="9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1400" y="1511805"/>
            <a:ext cx="279400" cy="190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8750" y="1518155"/>
            <a:ext cx="1714500" cy="612414"/>
          </a:xfrm>
          <a:prstGeom prst="roundRect">
            <a:avLst>
              <a:gd name="adj" fmla="val 15553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  <p:txBody>
          <a:bodyPr wrap="square" lIns="129698" tIns="155098" rIns="129697" bIns="129698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Compute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06492" y="2225819"/>
            <a:ext cx="1779016" cy="48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multiplication + accumulation</a:t>
            </a:r>
            <a:endParaRPr lang="en-US" sz="1300" dirty="0"/>
          </a:p>
        </p:txBody>
      </p:sp>
      <p:pic>
        <p:nvPicPr>
          <p:cNvPr id="1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61200" y="1511805"/>
            <a:ext cx="279400" cy="190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45375" y="1514980"/>
            <a:ext cx="1720850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5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416292" y="2211966"/>
            <a:ext cx="1779016" cy="483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(learned values) + activations</a:t>
            </a:r>
            <a:endParaRPr lang="en-US" sz="13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1000" y="1511805"/>
            <a:ext cx="2794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55175" y="1514980"/>
            <a:ext cx="1720850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5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626092" y="2211966"/>
            <a:ext cx="1779016" cy="711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Prediction, classification, enhancement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12800" y="3101615"/>
            <a:ext cx="10883392" cy="28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Photo → Tensor Data → Matrix Operations → AI Model → Enhanced Photo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12800" y="6291191"/>
            <a:ext cx="1056799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ARCHITECTURE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5975" y="1638193"/>
            <a:ext cx="1738385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6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4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6435" y="1845397"/>
            <a:ext cx="279400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17910" y="1638193"/>
            <a:ext cx="1738421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5" tIns="150415" rIns="125016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8406" y="1845397"/>
            <a:ext cx="2794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9881" y="1514980"/>
            <a:ext cx="1738385" cy="851333"/>
          </a:xfrm>
          <a:prstGeom prst="roundRect">
            <a:avLst>
              <a:gd name="adj" fmla="val 1156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5" bIns="125016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 / Local Memory</a:t>
            </a:r>
            <a:endParaRPr lang="en-US" sz="14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0340" y="1845397"/>
            <a:ext cx="2794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1815" y="1514980"/>
            <a:ext cx="1738421" cy="851333"/>
          </a:xfrm>
          <a:prstGeom prst="roundRect">
            <a:avLst>
              <a:gd name="adj" fmla="val 1156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6" tIns="150415" rIns="125015" bIns="125016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Control Unit</a:t>
            </a:r>
            <a:endParaRPr lang="en-US" sz="1400" dirty="0"/>
          </a:p>
        </p:txBody>
      </p:sp>
      <p:pic>
        <p:nvPicPr>
          <p:cNvPr id="11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2311" y="1845397"/>
            <a:ext cx="279400" cy="190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26961" y="1634440"/>
            <a:ext cx="1745889" cy="612414"/>
          </a:xfrm>
          <a:prstGeom prst="roundRect">
            <a:avLst>
              <a:gd name="adj" fmla="val 15553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  <p:txBody>
          <a:bodyPr wrap="square" lIns="129697" tIns="155098" rIns="129698" bIns="129698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Units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815975" y="2575864"/>
            <a:ext cx="2052205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0" tIns="150415" rIns="125010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Buffer</a:t>
            </a:r>
            <a:endParaRPr lang="en-US" sz="1400" dirty="0"/>
          </a:p>
        </p:txBody>
      </p:sp>
      <p:pic>
        <p:nvPicPr>
          <p:cNvPr id="14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960255" y="2783069"/>
            <a:ext cx="279400" cy="190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331730" y="2575864"/>
            <a:ext cx="2052205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0" tIns="150415" rIns="125009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400" dirty="0"/>
          </a:p>
        </p:txBody>
      </p:sp>
      <p:pic>
        <p:nvPicPr>
          <p:cNvPr id="16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76009" y="2783069"/>
            <a:ext cx="279400" cy="1905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847484" y="2575864"/>
            <a:ext cx="2052205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5010" tIns="150415" rIns="125009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Memory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815975" y="3390323"/>
            <a:ext cx="2540000" cy="1007197"/>
          </a:xfrm>
          <a:prstGeom prst="roundRect">
            <a:avLst>
              <a:gd name="adj" fmla="val 9772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995218" y="3569567"/>
            <a:ext cx="2246959" cy="25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Unit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995218" y="3795858"/>
            <a:ext cx="2246959" cy="44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and coordinates NPU operations.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3489325" y="3390323"/>
            <a:ext cx="2540000" cy="1007197"/>
          </a:xfrm>
          <a:prstGeom prst="roundRect">
            <a:avLst>
              <a:gd name="adj" fmla="val 9772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3668568" y="3569567"/>
            <a:ext cx="2246959" cy="25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3668568" y="3795858"/>
            <a:ext cx="2246959" cy="44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data between memory and the NPU efficiently.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162675" y="3390323"/>
            <a:ext cx="2540000" cy="1007197"/>
          </a:xfrm>
          <a:prstGeom prst="roundRect">
            <a:avLst>
              <a:gd name="adj" fmla="val 9772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341918" y="3569567"/>
            <a:ext cx="2246959" cy="25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341918" y="3795858"/>
            <a:ext cx="2246959" cy="44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local storage close to compute units.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8836025" y="3390323"/>
            <a:ext cx="2540000" cy="1007197"/>
          </a:xfrm>
          <a:prstGeom prst="roundRect">
            <a:avLst>
              <a:gd name="adj" fmla="val 9772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9015268" y="3569567"/>
            <a:ext cx="2246959" cy="25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Units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015268" y="3795858"/>
            <a:ext cx="2246959" cy="447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many multiply-and-accumulate operations.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812800" y="6291191"/>
            <a:ext cx="1062774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BUILDING BLOCKS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BUILDING BLOCKS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514980"/>
            <a:ext cx="3414171" cy="2264425"/>
          </a:xfrm>
          <a:prstGeom prst="roundRect">
            <a:avLst>
              <a:gd name="adj" fmla="val 434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18" y="1694225"/>
            <a:ext cx="3147356" cy="51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5218" y="2250535"/>
            <a:ext cx="3147356" cy="357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95218" y="2645966"/>
            <a:ext cx="3147356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0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Memory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5218" y="2938283"/>
            <a:ext cx="3147356" cy="68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large blocks of data between main memory and NPU memory without constant CPU involvement.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96" y="1514980"/>
            <a:ext cx="3414207" cy="2264425"/>
          </a:xfrm>
          <a:prstGeom prst="roundRect">
            <a:avLst>
              <a:gd name="adj" fmla="val 434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140" y="1694225"/>
            <a:ext cx="3147393" cy="51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68140" y="2250535"/>
            <a:ext cx="3147393" cy="357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68140" y="2645966"/>
            <a:ext cx="3147393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0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Random-Access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8140" y="2938283"/>
            <a:ext cx="3147393" cy="68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local memory that keeps frequently used data close to the compute units.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61854" y="1514980"/>
            <a:ext cx="3414171" cy="2264425"/>
          </a:xfrm>
          <a:prstGeom prst="roundRect">
            <a:avLst>
              <a:gd name="adj" fmla="val 434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1097" y="1694225"/>
            <a:ext cx="3147356" cy="51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41097" y="2250535"/>
            <a:ext cx="3147356" cy="357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41097" y="2645966"/>
            <a:ext cx="3147356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0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Multiply-Accumulate Unit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41097" y="2938283"/>
            <a:ext cx="3147356" cy="68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A × B + C, the basic operation of neural-network computation.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53885" y="3985782"/>
            <a:ext cx="677877" cy="359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900" dirty="0"/>
          </a:p>
        </p:txBody>
      </p:sp>
      <p:pic>
        <p:nvPicPr>
          <p:cNvPr id="2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71183" y="4057724"/>
            <a:ext cx="279400" cy="1905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02983" y="3985782"/>
            <a:ext cx="850409" cy="359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</a:t>
            </a:r>
            <a:endParaRPr lang="en-US" sz="1900" dirty="0"/>
          </a:p>
        </p:txBody>
      </p:sp>
      <p:pic>
        <p:nvPicPr>
          <p:cNvPr id="22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4057" y="4057724"/>
            <a:ext cx="279400" cy="1905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95857" y="3985782"/>
            <a:ext cx="674413" cy="359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900" dirty="0"/>
          </a:p>
        </p:txBody>
      </p:sp>
      <p:pic>
        <p:nvPicPr>
          <p:cNvPr id="2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10268" y="4057724"/>
            <a:ext cx="279400" cy="1905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542068" y="3985782"/>
            <a:ext cx="835213" cy="359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812800" y="6291191"/>
            <a:ext cx="1057708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COMPARISON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vs CPU vs GPU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45" y="1523351"/>
          <a:ext cx="10554855" cy="2540650"/>
        </p:xfrm>
        <a:graphic>
          <a:graphicData uri="http://schemas.openxmlformats.org/drawingml/2006/table">
            <a:tbl>
              <a:tblPr/>
              <a:tblGrid>
                <a:gridCol w="2638714"/>
                <a:gridCol w="2638714"/>
                <a:gridCol w="2638714"/>
                <a:gridCol w="2638714"/>
              </a:tblGrid>
              <a:tr h="38237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B5FA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NPU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628794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purpose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computing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computing &amp; graphics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workloads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7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performance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Highly optimized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7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Parallelism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7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efficiency for 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237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 use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&amp; applications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Graphics &amp; compute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Neural networks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5975" y="4270375"/>
            <a:ext cx="3409553" cy="671549"/>
          </a:xfrm>
          <a:prstGeom prst="roundRect">
            <a:avLst>
              <a:gd name="adj" fmla="val 146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04650" tIns="150415" rIns="104649" bIns="13887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→ Flexible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384278" y="4270375"/>
            <a:ext cx="3409589" cy="671549"/>
          </a:xfrm>
          <a:prstGeom prst="roundRect">
            <a:avLst>
              <a:gd name="adj" fmla="val 146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04649" tIns="150415" rIns="104649" bIns="13887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→ Parallel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955793" y="4273550"/>
            <a:ext cx="3417058" cy="665199"/>
          </a:xfrm>
          <a:prstGeom prst="roundRect">
            <a:avLst>
              <a:gd name="adj" fmla="val 14319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  <p:txBody>
          <a:bodyPr wrap="square" lIns="109331" tIns="155098" rIns="109332" bIns="129698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→ AI Efficient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2800" y="6291191"/>
            <a:ext cx="1059353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APPLICATIONS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NPU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514980"/>
            <a:ext cx="3414171" cy="1570434"/>
          </a:xfrm>
          <a:prstGeom prst="roundRect">
            <a:avLst>
              <a:gd name="adj" fmla="val 626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18" y="1694225"/>
            <a:ext cx="3147356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95218" y="2144967"/>
            <a:ext cx="3147356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Camera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5218" y="2464919"/>
            <a:ext cx="3147356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enhancement, HDR, portrait mode, scene detection.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8896" y="1514980"/>
            <a:ext cx="3414207" cy="1570434"/>
          </a:xfrm>
          <a:prstGeom prst="roundRect">
            <a:avLst>
              <a:gd name="adj" fmla="val 626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140" y="1694225"/>
            <a:ext cx="3147393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8140" y="2144967"/>
            <a:ext cx="3147393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Speech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68140" y="2464919"/>
            <a:ext cx="3147393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recognition, voice assistants, translation, noise cancellation.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1854" y="1514980"/>
            <a:ext cx="3414171" cy="1570434"/>
          </a:xfrm>
          <a:prstGeom prst="roundRect">
            <a:avLst>
              <a:gd name="adj" fmla="val 626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1097" y="1694225"/>
            <a:ext cx="3147356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41097" y="2144967"/>
            <a:ext cx="3147356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41097" y="2464919"/>
            <a:ext cx="3147356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 and device authentication.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94965"/>
            <a:ext cx="3414171" cy="1570434"/>
          </a:xfrm>
          <a:prstGeom prst="roundRect">
            <a:avLst>
              <a:gd name="adj" fmla="val 626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218" y="3474210"/>
            <a:ext cx="3147356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95218" y="3924951"/>
            <a:ext cx="3147356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95218" y="4244904"/>
            <a:ext cx="3147356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 assistants, summarization, image editing.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8896" y="3294965"/>
            <a:ext cx="3414207" cy="1570434"/>
          </a:xfrm>
          <a:prstGeom prst="roundRect">
            <a:avLst>
              <a:gd name="adj" fmla="val 626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8140" y="3474210"/>
            <a:ext cx="3147393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68140" y="3924951"/>
            <a:ext cx="3147393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PCs &amp; Smartphones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68140" y="4244904"/>
            <a:ext cx="3147393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blur, live captions, webcam effects.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61854" y="3294965"/>
            <a:ext cx="3414171" cy="1570434"/>
          </a:xfrm>
          <a:prstGeom prst="roundRect">
            <a:avLst>
              <a:gd name="adj" fmla="val 626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41097" y="3474210"/>
            <a:ext cx="3147356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141097" y="3924951"/>
            <a:ext cx="3147356" cy="281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41097" y="4244904"/>
            <a:ext cx="3147356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detection, lane detection, traffic-sign recognition.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91191"/>
            <a:ext cx="1050478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REAL-WORLD EXAMPLE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IN YOUR SMARTPHONE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511805"/>
            <a:ext cx="10883392" cy="28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take a portrait photo.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75" y="1989103"/>
            <a:ext cx="2288886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136" tIns="99615" rIns="69136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4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96936" y="2145506"/>
            <a:ext cx="279400" cy="19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8412" y="1989103"/>
            <a:ext cx="2288886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135" tIns="99615" rIns="69136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Sensor</a:t>
            </a:r>
            <a:endParaRPr lang="en-US" sz="1400" dirty="0"/>
          </a:p>
        </p:txBody>
      </p:sp>
      <p:pic>
        <p:nvPicPr>
          <p:cNvPr id="8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9373" y="2145506"/>
            <a:ext cx="279400" cy="190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0848" y="1989103"/>
            <a:ext cx="2288886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136" tIns="99615" rIns="69135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Processing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01809" y="2145506"/>
            <a:ext cx="279400" cy="190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76459" y="1985352"/>
            <a:ext cx="2296391" cy="510814"/>
          </a:xfrm>
          <a:prstGeom prst="roundRect">
            <a:avLst>
              <a:gd name="adj" fmla="val 18647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  <p:txBody>
          <a:bodyPr wrap="square" lIns="73818" tIns="104298" rIns="73817" bIns="78898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15975" y="2832100"/>
            <a:ext cx="2292350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084" tIns="99615" rIns="69083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/ Object Detection</a:t>
            </a:r>
            <a:endParaRPr lang="en-US" sz="1400" dirty="0"/>
          </a:p>
        </p:txBody>
      </p:sp>
      <p:pic>
        <p:nvPicPr>
          <p:cNvPr id="13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00400" y="2988506"/>
            <a:ext cx="279400" cy="190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71875" y="2708889"/>
            <a:ext cx="2292350" cy="749733"/>
          </a:xfrm>
          <a:prstGeom prst="roundRect">
            <a:avLst>
              <a:gd name="adj" fmla="val 13128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084" tIns="99615" rIns="69083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Segmentation</a:t>
            </a:r>
            <a:endParaRPr lang="en-US" sz="1400" dirty="0"/>
          </a:p>
        </p:txBody>
      </p:sp>
      <p:pic>
        <p:nvPicPr>
          <p:cNvPr id="1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56300" y="2988506"/>
            <a:ext cx="279400" cy="190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327775" y="2832100"/>
            <a:ext cx="2292350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084" tIns="99615" rIns="69083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Enhancement</a:t>
            </a:r>
            <a:endParaRPr lang="en-US" sz="1400" dirty="0"/>
          </a:p>
        </p:txBody>
      </p:sp>
      <p:pic>
        <p:nvPicPr>
          <p:cNvPr id="17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712200" y="2988506"/>
            <a:ext cx="279400" cy="190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083675" y="2832100"/>
            <a:ext cx="2292350" cy="503310"/>
          </a:xfrm>
          <a:prstGeom prst="roundRect">
            <a:avLst>
              <a:gd name="adj" fmla="val 19556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69084" tIns="99615" rIns="69083" bIns="742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Photo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812800" y="3664998"/>
            <a:ext cx="10883392" cy="51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NPU can accelerate: </a:t>
            </a: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faces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separating foreground from background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image quality</a:t>
            </a: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AI effects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812800" y="4361042"/>
            <a:ext cx="10566400" cy="543394"/>
          </a:xfrm>
          <a:prstGeom prst="roundRect">
            <a:avLst>
              <a:gd name="adj" fmla="val 9349"/>
            </a:avLst>
          </a:prstGeom>
          <a:solidFill>
            <a:srgbClr val="EEF5FC"/>
          </a:solidFill>
          <a:ln/>
        </p:spPr>
        <p:txBody>
          <a:bodyPr wrap="square" lIns="225267" tIns="124821" rIns="0" bIns="99421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press one button. The NPU handles thousands of AI operations behind the scenes.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812800" y="4361042"/>
            <a:ext cx="10566400" cy="543394"/>
          </a:xfrm>
          <a:custGeom>
            <a:avLst/>
            <a:gdLst/>
            <a:ahLst/>
            <a:cxnLst/>
            <a:rect l="l" t="t" r="r" b="b"/>
            <a:pathLst>
              <a:path w="10566400" h="543394">
                <a:moveTo>
                  <a:pt x="50800" y="543394"/>
                </a:moveTo>
                <a:lnTo>
                  <a:pt x="50800" y="543394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492594"/>
                </a:lnTo>
                <a:arcTo hR="50800" wR="12700" stAng="10800000" swAng="-5400000"/>
                <a:close/>
              </a:path>
            </a:pathLst>
          </a:custGeom>
          <a:solidFill>
            <a:srgbClr val="0B5FA5"/>
          </a:solidFill>
          <a:ln/>
        </p:spPr>
      </p:sp>
      <p:sp>
        <p:nvSpPr>
          <p:cNvPr id="22" name="Text 14"/>
          <p:cNvSpPr/>
          <p:nvPr/>
        </p:nvSpPr>
        <p:spPr>
          <a:xfrm>
            <a:off x="812800" y="6291194"/>
            <a:ext cx="1059700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TRADE-OFFS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&amp; LIMITATIONS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514983"/>
            <a:ext cx="5200650" cy="3018956"/>
          </a:xfrm>
          <a:prstGeom prst="roundRect">
            <a:avLst>
              <a:gd name="adj" fmla="val 3260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218" y="1694222"/>
            <a:ext cx="4987429" cy="29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5218" y="2092796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AI Processing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5218" y="2334202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hardware for neural-network operations.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5218" y="2690019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Power Efficiency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5218" y="2931430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run AI workloads efficiently.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5218" y="3287247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5218" y="3528653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process many AI tasks locally.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5218" y="3884470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CPU/GPU 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5218" y="4125875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Offloads suitable AI workloads.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5375" y="1514983"/>
            <a:ext cx="5200650" cy="3018956"/>
          </a:xfrm>
          <a:prstGeom prst="roundRect">
            <a:avLst>
              <a:gd name="adj" fmla="val 3260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4618" y="1694222"/>
            <a:ext cx="4987429" cy="29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7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4618" y="2092796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Suitable Workloads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4618" y="2334202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application benefits from an NPU.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4618" y="2690019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 Matters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4618" y="2931430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workloads move a lot of data.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4618" y="3287247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Support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4618" y="3528653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frameworks, drivers and model compatibility.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4618" y="3884470"/>
            <a:ext cx="4987429" cy="266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Hardware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4618" y="4125875"/>
            <a:ext cx="4987429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flexible than a general-purpose CPU.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740312"/>
            <a:ext cx="10566400" cy="525823"/>
          </a:xfrm>
          <a:prstGeom prst="roundRect">
            <a:avLst>
              <a:gd name="adj" fmla="val 9661"/>
            </a:avLst>
          </a:prstGeom>
          <a:solidFill>
            <a:srgbClr val="EEF5FC"/>
          </a:solidFill>
          <a:ln/>
        </p:spPr>
        <p:txBody>
          <a:bodyPr wrap="square" lIns="225267" tIns="124821" rIns="0" bIns="99421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performance = right workload + optimized software + suitable hardware.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4740312"/>
            <a:ext cx="10566400" cy="525823"/>
          </a:xfrm>
          <a:custGeom>
            <a:avLst/>
            <a:gdLst/>
            <a:ahLst/>
            <a:cxnLst/>
            <a:rect l="l" t="t" r="r" b="b"/>
            <a:pathLst>
              <a:path w="10566400" h="525823">
                <a:moveTo>
                  <a:pt x="50800" y="525823"/>
                </a:moveTo>
                <a:lnTo>
                  <a:pt x="50800" y="525823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12700" stAng="16200000" swAng="-5400000"/>
                <a:lnTo>
                  <a:pt x="38100" y="475023"/>
                </a:lnTo>
                <a:arcTo hR="50800" wR="12700" stAng="10800000" swAng="-5400000"/>
                <a:close/>
              </a:path>
            </a:pathLst>
          </a:custGeom>
          <a:solidFill>
            <a:srgbClr val="0B5FA5"/>
          </a:solidFill>
          <a:ln/>
        </p:spPr>
      </p:sp>
      <p:sp>
        <p:nvSpPr>
          <p:cNvPr id="26" name="Text 24"/>
          <p:cNvSpPr/>
          <p:nvPr/>
        </p:nvSpPr>
        <p:spPr>
          <a:xfrm>
            <a:off x="812800" y="6291194"/>
            <a:ext cx="1059353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5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CONCLUSION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38417"/>
            <a:ext cx="10883392" cy="49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ROLE OF NPU IN MODERN COMPUTING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5975" y="1521910"/>
            <a:ext cx="2288886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1460" tIns="150415" rIns="121460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pic>
        <p:nvPicPr>
          <p:cNvPr id="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96936" y="1729116"/>
            <a:ext cx="279400" cy="190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71587" y="1518158"/>
            <a:ext cx="2296391" cy="612414"/>
          </a:xfrm>
          <a:prstGeom prst="roundRect">
            <a:avLst>
              <a:gd name="adj" fmla="val 15553"/>
            </a:avLst>
          </a:prstGeom>
          <a:solidFill>
            <a:srgbClr val="EEF5FC"/>
          </a:solidFill>
          <a:ln w="12700">
            <a:solidFill>
              <a:srgbClr val="0B5FA5"/>
            </a:solidFill>
            <a:prstDash val="solid"/>
          </a:ln>
        </p:spPr>
        <p:txBody>
          <a:bodyPr wrap="square" lIns="126142" tIns="155098" rIns="126142" bIns="129698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3227" y="1729116"/>
            <a:ext cx="279400" cy="190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4702" y="1521910"/>
            <a:ext cx="2288886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1460" tIns="150415" rIns="121459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Processing</a:t>
            </a:r>
            <a:endParaRPr lang="en-US" sz="14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5664" y="1729116"/>
            <a:ext cx="279400" cy="190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87139" y="1521910"/>
            <a:ext cx="2288886" cy="604910"/>
          </a:xfrm>
          <a:prstGeom prst="roundRect">
            <a:avLst>
              <a:gd name="adj" fmla="val 16271"/>
            </a:avLst>
          </a:prstGeom>
          <a:noFill/>
          <a:ln w="6350">
            <a:solidFill>
              <a:srgbClr val="D9E0EA"/>
            </a:solidFill>
            <a:prstDash val="solid"/>
          </a:ln>
        </p:spPr>
        <p:txBody>
          <a:bodyPr wrap="square" lIns="121460" tIns="150415" rIns="121459" bIns="125015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Intelligence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15975" y="2343299"/>
            <a:ext cx="5213350" cy="1132970"/>
          </a:xfrm>
          <a:prstGeom prst="roundRect">
            <a:avLst>
              <a:gd name="adj" fmla="val 868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95218" y="2522538"/>
            <a:ext cx="338874" cy="412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391913" y="2522538"/>
            <a:ext cx="4634237" cy="246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is specialized for AI and neural-network workloads.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162675" y="2343299"/>
            <a:ext cx="5213350" cy="1132970"/>
          </a:xfrm>
          <a:prstGeom prst="roundRect">
            <a:avLst>
              <a:gd name="adj" fmla="val 868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41918" y="2522538"/>
            <a:ext cx="358198" cy="79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763616" y="2522538"/>
            <a:ext cx="4566161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uses DMA, SRAM and MAC units to process data efficiently.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975" y="3685815"/>
            <a:ext cx="5213350" cy="1132970"/>
          </a:xfrm>
          <a:prstGeom prst="roundRect">
            <a:avLst>
              <a:gd name="adj" fmla="val 868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95218" y="3865060"/>
            <a:ext cx="338679" cy="79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397397" y="3865060"/>
            <a:ext cx="4586266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enables AI features in smartphones, PCs, cameras and vehicles.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62675" y="3685815"/>
            <a:ext cx="5213350" cy="1132970"/>
          </a:xfrm>
          <a:prstGeom prst="roundRect">
            <a:avLst>
              <a:gd name="adj" fmla="val 8687"/>
            </a:avLst>
          </a:prstGeom>
          <a:noFill/>
          <a:ln w="6350">
            <a:solidFill>
              <a:srgbClr val="D9E0E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41918" y="3865060"/>
            <a:ext cx="298630" cy="79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704049" y="3865060"/>
            <a:ext cx="4627516" cy="46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major advantage is efficient AI processing with reduced CPU/GPU workload.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2800" y="5025163"/>
            <a:ext cx="10566400" cy="717442"/>
          </a:xfrm>
          <a:prstGeom prst="roundRect">
            <a:avLst>
              <a:gd name="adj" fmla="val 14161"/>
            </a:avLst>
          </a:prstGeom>
          <a:solidFill>
            <a:srgbClr val="0B5FA5"/>
          </a:solidFill>
          <a:ln/>
        </p:spPr>
        <p:txBody>
          <a:bodyPr wrap="square" lIns="47204" tIns="135342" rIns="47204" bIns="109942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NPU: Bringing AI Closer to the Device.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12800" y="6291194"/>
            <a:ext cx="1135726" cy="236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NPU · 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al Processing Unit (NPU)">
  <a:themeElements>
    <a:clrScheme name="Neural Processing Unit (NPU)">
      <a:dk1>
        <a:srgbClr val="14213D"/>
      </a:dk1>
      <a:lt1>
        <a:srgbClr val="FFFFFF"/>
      </a:lt1>
      <a:dk2>
        <a:srgbClr val="4F596E"/>
      </a:dk2>
      <a:lt2>
        <a:srgbClr val="E8E9EC"/>
      </a:lt2>
      <a:accent1>
        <a:srgbClr val="0B5FA5"/>
      </a:accent1>
      <a:accent2>
        <a:srgbClr val="E07A1F"/>
      </a:accent2>
      <a:accent3>
        <a:srgbClr val="6B7686"/>
      </a:accent3>
      <a:accent4>
        <a:srgbClr val="9AA0A6"/>
      </a:accent4>
      <a:accent5>
        <a:srgbClr val="727A8B"/>
      </a:accent5>
      <a:accent6>
        <a:srgbClr val="959BA8"/>
      </a:accent6>
      <a:hlink>
        <a:srgbClr val="0563C1"/>
      </a:hlink>
      <a:folHlink>
        <a:srgbClr val="954F72"/>
      </a:folHlink>
    </a:clrScheme>
    <a:fontScheme name="Neural Processing Unit (NPU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Processing Unit (NPU)</dc:title>
  <dc:subject/>
  <dc:creator/>
  <cp:lastModifiedBy/>
  <cp:revision>1</cp:revision>
  <dcterms:created xsi:type="dcterms:W3CDTF">2026-10-05T04:33:09Z</dcterms:created>
  <dcterms:modified xsi:type="dcterms:W3CDTF">2026-10-05T04:33:09Z</dcterms:modified>
</cp:coreProperties>
</file>